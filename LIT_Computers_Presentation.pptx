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1371600"/>
            <a:ext cx="9448495" cy="411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D97706"/>
                </a:solidFill>
              </a:defRPr>
            </a:pPr>
            <a:r>
              <a:t>LIT COMPUTERS E-COMMERCE PLATFORM</a:t>
            </a:r>
          </a:p>
          <a:p>
            <a:pPr algn="ctr">
              <a:defRPr sz="1800" b="1">
                <a:solidFill>
                  <a:srgbClr val="0284C7"/>
                </a:solidFill>
              </a:defRPr>
            </a:pPr>
            <a:r>
              <a:t>High-Performance PCs, Custom Builder &amp; Admin Management System</a:t>
            </a:r>
          </a:p>
          <a:p>
            <a:br/>
            <a:pPr algn="ctr">
              <a:defRPr sz="1400">
                <a:solidFill>
                  <a:srgbClr val="1E293B"/>
                </a:solidFill>
              </a:defRPr>
            </a:pPr>
            <a:r>
              <a:t>Full E-Commerce Journey • Interactive Compatibility Engine • JSON Catalog CRUD</a:t>
            </a:r>
          </a:p>
          <a:p>
            <a:br/>
            <a:pPr algn="ctr">
              <a:defRPr sz="1200" b="1">
                <a:solidFill>
                  <a:srgbClr val="000000"/>
                </a:solidFill>
              </a:defRPr>
            </a:pPr>
            <a:r>
              <a:t>Presented by: Development Team | Platform: PHP &amp; SQLite/JSON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LIT COMPUTERS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</a:defRPr>
            </a:pPr>
            <a:r>
              <a:t>Executive Summary &amp; System Purpose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728655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D97706"/>
                </a:solidFill>
              </a:defRPr>
            </a:pPr>
            <a:r>
              <a:t>• Complete Ready-To-Use Product Catalog</a:t>
            </a:r>
          </a:p>
          <a:p>
            <a:pPr>
              <a:defRPr sz="1300">
                <a:solidFill>
                  <a:srgbClr val="000000"/>
                </a:solidFill>
              </a:defRPr>
            </a:pPr>
            <a:r>
              <a:t>Pre-loaded with 8 realistic Ready-Made Gaming/Workstation PCs &amp; 52 components in Indian Rupee (₹) pricing.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651760"/>
            <a:ext cx="10728655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D97706"/>
                </a:solidFill>
              </a:defRPr>
            </a:pPr>
            <a:r>
              <a:t>• Interactive Custom PC Builder</a:t>
            </a:r>
          </a:p>
          <a:p>
            <a:pPr>
              <a:defRPr sz="1300">
                <a:solidFill>
                  <a:srgbClr val="000000"/>
                </a:solidFill>
              </a:defRPr>
            </a:pPr>
            <a:r>
              <a:t>12 component category selection with real-time socket, RAM, and PSU wattage compatibility checking.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840480"/>
            <a:ext cx="10728655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D97706"/>
                </a:solidFill>
              </a:defRPr>
            </a:pPr>
            <a:r>
              <a:t>• No-Code Admin Product Management</a:t>
            </a:r>
          </a:p>
          <a:p>
            <a:pPr>
              <a:defRPr sz="1300">
                <a:solidFill>
                  <a:srgbClr val="000000"/>
                </a:solidFill>
              </a:defRPr>
            </a:pPr>
            <a:r>
              <a:t>Complete Admin Panel allowing non-technical managers to add, edit, delete products and upload images without modifying PHP code.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029200"/>
            <a:ext cx="10728655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D97706"/>
                </a:solidFill>
              </a:defRPr>
            </a:pPr>
            <a:r>
              <a:t>• Robust File &amp; DB Architecture</a:t>
            </a:r>
          </a:p>
          <a:p>
            <a:pPr>
              <a:defRPr sz="1300">
                <a:solidFill>
                  <a:srgbClr val="000000"/>
                </a:solidFill>
              </a:defRPr>
            </a:pPr>
            <a:r>
              <a:t>Products stored in JSON files (`products.json` &amp; `components.json`), while user credentials and orders reside in SQLite/PDO database.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LIT COMPUTERS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</a:defRPr>
            </a:pPr>
            <a:r>
              <a:t>Pre-Configured Ready-Made PC Lineup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832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0000"/>
                </a:solidFill>
              </a:defRPr>
            </a:pPr>
            <a:r>
              <a:t>LIT Starter Gaming PC</a:t>
            </a:r>
          </a:p>
          <a:p>
            <a:pPr>
              <a:defRPr sz="1800" b="1">
                <a:solidFill>
                  <a:srgbClr val="D97706"/>
                </a:solidFill>
              </a:defRPr>
            </a:pPr>
            <a:r>
              <a:t>₹45,999</a:t>
            </a:r>
          </a:p>
          <a:p>
            <a:br/>
            <a:pPr>
              <a:defRPr sz="1200">
                <a:solidFill>
                  <a:srgbClr val="1E293B"/>
                </a:solidFill>
              </a:defRPr>
            </a:pPr>
            <a:r>
              <a:t>Ryzen 5 5600 • RTX 3050 6GB • 16GB DDR4 • 512GB SSD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463040"/>
            <a:ext cx="33832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0000"/>
                </a:solidFill>
              </a:defRPr>
            </a:pPr>
            <a:r>
              <a:t>LIT Gaming Pro</a:t>
            </a:r>
          </a:p>
          <a:p>
            <a:pPr>
              <a:defRPr sz="1800" b="1">
                <a:solidFill>
                  <a:srgbClr val="D97706"/>
                </a:solidFill>
              </a:defRPr>
            </a:pPr>
            <a:r>
              <a:t>₹69,999</a:t>
            </a:r>
          </a:p>
          <a:p>
            <a:br/>
            <a:pPr>
              <a:defRPr sz="1200">
                <a:solidFill>
                  <a:srgbClr val="1E293B"/>
                </a:solidFill>
              </a:defRPr>
            </a:pPr>
            <a:r>
              <a:t>Ryzen 5 7600 • RTX 4060 8GB • 16GB DDR5 • 1TB SSD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1463040"/>
            <a:ext cx="33832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0000"/>
                </a:solidFill>
              </a:defRPr>
            </a:pPr>
            <a:r>
              <a:t>LIT Creator PC</a:t>
            </a:r>
          </a:p>
          <a:p>
            <a:pPr>
              <a:defRPr sz="1800" b="1">
                <a:solidFill>
                  <a:srgbClr val="D97706"/>
                </a:solidFill>
              </a:defRPr>
            </a:pPr>
            <a:r>
              <a:t>₹89,999</a:t>
            </a:r>
          </a:p>
          <a:p>
            <a:br/>
            <a:pPr>
              <a:defRPr sz="1200">
                <a:solidFill>
                  <a:srgbClr val="1E293B"/>
                </a:solidFill>
              </a:defRPr>
            </a:pPr>
            <a:r>
              <a:t>Core i7 14700K • RTX 4060 Ti 8GB • 32GB DDR5 • 240mm AIO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40480"/>
            <a:ext cx="33832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0000"/>
                </a:solidFill>
              </a:defRPr>
            </a:pPr>
            <a:r>
              <a:t>LIT Ultimate Gaming PC</a:t>
            </a:r>
          </a:p>
          <a:p>
            <a:pPr>
              <a:defRPr sz="1800" b="1">
                <a:solidFill>
                  <a:srgbClr val="D97706"/>
                </a:solidFill>
              </a:defRPr>
            </a:pPr>
            <a:r>
              <a:t>₹1,29,999</a:t>
            </a:r>
          </a:p>
          <a:p>
            <a:br/>
            <a:pPr>
              <a:defRPr sz="1200">
                <a:solidFill>
                  <a:srgbClr val="1E293B"/>
                </a:solidFill>
              </a:defRPr>
            </a:pPr>
            <a:r>
              <a:t>Ryzen 7 7800X3D • RTX 4070 12GB • 32GB DDR5 • 2TB SSD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3840480"/>
            <a:ext cx="33832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0000"/>
                </a:solidFill>
              </a:defRPr>
            </a:pPr>
            <a:r>
              <a:t>LIT Student PC</a:t>
            </a:r>
          </a:p>
          <a:p>
            <a:pPr>
              <a:defRPr sz="1800" b="1">
                <a:solidFill>
                  <a:srgbClr val="D97706"/>
                </a:solidFill>
              </a:defRPr>
            </a:pPr>
            <a:r>
              <a:t>₹32,999</a:t>
            </a:r>
          </a:p>
          <a:p>
            <a:br/>
            <a:pPr>
              <a:defRPr sz="1200">
                <a:solidFill>
                  <a:srgbClr val="1E293B"/>
                </a:solidFill>
              </a:defRPr>
            </a:pPr>
            <a:r>
              <a:t>Core i3 14100 • Integrated UHD Graphics • 16GB RAM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3840480"/>
            <a:ext cx="33832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0000"/>
                </a:solidFill>
              </a:defRPr>
            </a:pPr>
            <a:r>
              <a:t>LIT Office PC</a:t>
            </a:r>
          </a:p>
          <a:p>
            <a:pPr>
              <a:defRPr sz="1800" b="1">
                <a:solidFill>
                  <a:srgbClr val="D97706"/>
                </a:solidFill>
              </a:defRPr>
            </a:pPr>
            <a:r>
              <a:t>₹38,999</a:t>
            </a:r>
          </a:p>
          <a:p>
            <a:br/>
            <a:pPr>
              <a:defRPr sz="1200">
                <a:solidFill>
                  <a:srgbClr val="1E293B"/>
                </a:solidFill>
              </a:defRPr>
            </a:pPr>
            <a:r>
              <a:t>Core i5 14400 • Integrated Graphics • 512GB NVMe SSD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LIT COMPUTERS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</a:defRPr>
            </a:pPr>
            <a:r>
              <a:t>Interactive Custom PC Builder &amp; Compatibility Engine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284C7"/>
                </a:solidFill>
              </a:defRPr>
            </a:pPr>
            <a:r>
              <a:t>12 Component Categories</a:t>
            </a:r>
          </a:p>
          <a:p>
            <a:br/>
            <a:pPr>
              <a:defRPr sz="1300">
                <a:solidFill>
                  <a:srgbClr val="000000"/>
                </a:solidFill>
              </a:defRPr>
            </a:pPr>
            <a:r>
              <a:t>• CPU (Processors)</a:t>
            </a:r>
            <a:br/>
            <a:r>
              <a:t>• Motherboard</a:t>
            </a:r>
            <a:br/>
            <a:r>
              <a:t>• RAM (Memory)</a:t>
            </a:r>
            <a:br/>
            <a:r>
              <a:t>• GPU (Graphics)</a:t>
            </a:r>
            <a:br/>
            <a:r>
              <a:t>• SSD (NVMe Storage)</a:t>
            </a:r>
            <a:br/>
            <a:r>
              <a:t>• HDD (Mass Storage)</a:t>
            </a:r>
            <a:br/>
            <a:r>
              <a:t>• PSU (Power Supply)</a:t>
            </a:r>
            <a:br/>
            <a:r>
              <a:t>• Cabinet (Chassis)</a:t>
            </a:r>
            <a:br/>
            <a:r>
              <a:t>• CPU Cooler</a:t>
            </a:r>
            <a:br/>
            <a:r>
              <a:t>• Monitor (Displays)</a:t>
            </a:r>
            <a:br/>
            <a:r>
              <a:t>• Mechanical Keyboard</a:t>
            </a:r>
            <a:br/>
            <a:r>
              <a:t>• Gaming Mouse</a:t>
            </a:r>
            <a:br/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D97706"/>
                </a:solidFill>
              </a:defRPr>
            </a:pPr>
            <a:r>
              <a:t>Real-Time Compatibility Rules</a:t>
            </a:r>
          </a:p>
          <a:p>
            <a:br/>
            <a:pPr>
              <a:defRPr sz="1300">
                <a:solidFill>
                  <a:srgbClr val="000000"/>
                </a:solidFill>
              </a:defRPr>
            </a:pPr>
            <a:r>
              <a:t>1. CPU vs Motherboard Socket Match:</a:t>
            </a:r>
            <a:br/>
            <a:r>
              <a:t>   - Validates AM4, AM5, and LGA1700 sockets.</a:t>
            </a:r>
            <a:br/>
            <a:br/>
            <a:r>
              <a:t>2. Memory Type Validation:</a:t>
            </a:r>
            <a:br/>
            <a:r>
              <a:t>   - Ensures Motherboard RAM slots match DDR4 or DDR5 RAM sticks.</a:t>
            </a:r>
            <a:br/>
            <a:br/>
            <a:r>
              <a:t>3. PSU Wattage Calculation:</a:t>
            </a:r>
            <a:br/>
            <a:r>
              <a:t>   - Calculates system power draw (CPU + GPU + 100W base) against PSU capacity.</a:t>
            </a:r>
            <a:br/>
            <a:br/>
            <a:r>
              <a:t>4. Your Build Summary:</a:t>
            </a:r>
            <a:br/>
            <a:r>
              <a:t>   - Live total price calculation in ₹ with one-click Add to Cart.</a:t>
            </a:r>
            <a:b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LIT COMPUTERS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</a:defRPr>
            </a:pPr>
            <a:r>
              <a:t>Admin Catalog Management &amp; Image Upload 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D97706"/>
                </a:solidFill>
              </a:defRPr>
            </a:pPr>
            <a:r>
              <a:t>Product Dashboard</a:t>
            </a:r>
          </a:p>
          <a:p>
            <a:br/>
            <a:pPr>
              <a:defRPr sz="1300">
                <a:solidFill>
                  <a:srgbClr val="000000"/>
                </a:solidFill>
              </a:defRPr>
            </a:pPr>
            <a:r>
              <a:t>View all catalog items with images, prices in ₹, stock levels, categories, and direct action triggers.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46304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D97706"/>
                </a:solidFill>
              </a:defRPr>
            </a:pPr>
            <a:r>
              <a:t>Add New Product</a:t>
            </a:r>
          </a:p>
          <a:p>
            <a:br/>
            <a:pPr>
              <a:defRPr sz="1300">
                <a:solidFill>
                  <a:srgbClr val="000000"/>
                </a:solidFill>
              </a:defRPr>
            </a:pPr>
            <a:r>
              <a:t>Interactive form for Ready-Made PCs and components with brand, price, stock, specs, and socket parameters.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84048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D97706"/>
                </a:solidFill>
              </a:defRPr>
            </a:pPr>
            <a:r>
              <a:t>Edit Product</a:t>
            </a:r>
          </a:p>
          <a:p>
            <a:br/>
            <a:pPr>
              <a:defRPr sz="1300">
                <a:solidFill>
                  <a:srgbClr val="000000"/>
                </a:solidFill>
              </a:defRPr>
            </a:pPr>
            <a:r>
              <a:t>Instant modification of existing prices, specifications, descriptions, and stock counts without editing source code.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384048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D97706"/>
                </a:solidFill>
              </a:defRPr>
            </a:pPr>
            <a:r>
              <a:t>Secure Image Uploads</a:t>
            </a:r>
          </a:p>
          <a:p>
            <a:br/>
            <a:pPr>
              <a:defRPr sz="1300">
                <a:solidFill>
                  <a:srgbClr val="000000"/>
                </a:solidFill>
              </a:defRPr>
            </a:pPr>
            <a:r>
              <a:t>Upload JPG, PNG, WEBP, and SVG product images saved securely in `assets/images/products/` with unique filenames.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LIT COMPUTERS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</a:defRPr>
            </a:pPr>
            <a:r>
              <a:t>Customer E-Commerce Journey &amp; Checkout 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728655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284C7"/>
                </a:solidFill>
              </a:defRPr>
            </a:pPr>
            <a:r>
              <a:t>Seamless Shopping &amp; Checkout Pipeline</a:t>
            </a:r>
          </a:p>
          <a:p>
            <a:pPr>
              <a:defRPr sz="1300" b="1">
                <a:solidFill>
                  <a:srgbClr val="000000"/>
                </a:solidFill>
              </a:defRPr>
            </a:pPr>
            <a:r>
              <a:t>1. Open Store &amp; Browse Products (No Login Required)</a:t>
            </a:r>
          </a:p>
          <a:p>
            <a:pPr>
              <a:defRPr sz="1300" b="1">
                <a:solidFill>
                  <a:srgbClr val="000000"/>
                </a:solidFill>
              </a:defRPr>
            </a:pPr>
            <a:r>
              <a:t>2. Live Search ('RTX 4060', 'Ryzen') &amp; Filter by Price/Category/Brand</a:t>
            </a:r>
          </a:p>
          <a:p>
            <a:pPr>
              <a:defRPr sz="1300" b="1">
                <a:solidFill>
                  <a:srgbClr val="000000"/>
                </a:solidFill>
              </a:defRPr>
            </a:pPr>
            <a:r>
              <a:t>3. View Product Specifications &amp; High-Res Previews</a:t>
            </a:r>
          </a:p>
          <a:p>
            <a:pPr>
              <a:defRPr sz="1300" b="1">
                <a:solidFill>
                  <a:srgbClr val="000000"/>
                </a:solidFill>
              </a:defRPr>
            </a:pPr>
            <a:r>
              <a:t>4. Customize PC Build or Add Products to Cart</a:t>
            </a:r>
          </a:p>
          <a:p>
            <a:pPr>
              <a:defRPr sz="1300" b="1">
                <a:solidFill>
                  <a:srgbClr val="000000"/>
                </a:solidFill>
              </a:defRPr>
            </a:pPr>
            <a:r>
              <a:t>5. Login / Account Creation Prompt at Checkout</a:t>
            </a:r>
          </a:p>
          <a:p>
            <a:pPr>
              <a:defRPr sz="1300" b="1">
                <a:solidFill>
                  <a:srgbClr val="000000"/>
                </a:solidFill>
              </a:defRPr>
            </a:pPr>
            <a:r>
              <a:t>6. Enter Delivery Address &amp; Select Payment Mode (UPI / NetBanking / COD)</a:t>
            </a:r>
          </a:p>
          <a:p>
            <a:pPr>
              <a:defRPr sz="1300" b="1">
                <a:solidFill>
                  <a:srgbClr val="000000"/>
                </a:solidFill>
              </a:defRPr>
            </a:pPr>
            <a:r>
              <a:t>7. Review Itemized Tax Invoice (18% GST Calculation)</a:t>
            </a:r>
          </a:p>
          <a:p>
            <a:pPr>
              <a:defRPr sz="1300" b="1">
                <a:solidFill>
                  <a:srgbClr val="000000"/>
                </a:solidFill>
              </a:defRPr>
            </a:pPr>
            <a:r>
              <a:t>8. Confirm Order &amp; Receive Printable Invoice Receipt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LIT COMPUTERS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</a:defRPr>
            </a:pPr>
            <a:r>
              <a:t>Access &amp; Verification 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463040"/>
            <a:ext cx="9448495" cy="4389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D97706"/>
                </a:solidFill>
              </a:defRPr>
            </a:pPr>
            <a:r>
              <a:t>Project Status: Fully Functional &amp; Automated Test Verified</a:t>
            </a:r>
          </a:p>
          <a:p>
            <a:br/>
            <a:br/>
            <a:pPr algn="ctr">
              <a:defRPr sz="1400">
                <a:solidFill>
                  <a:srgbClr val="000000"/>
                </a:solidFill>
              </a:defRPr>
            </a:pPr>
            <a:r>
              <a:t>Local Web Server: http://localhost:8000</a:t>
            </a:r>
            <a:br/>
            <a:r>
              <a:t>Admin Panel URL: http://localhost:8000/admin/products.php</a:t>
            </a:r>
            <a:br/>
            <a:br/>
            <a:r>
              <a:t>Default Admin Credentials:</a:t>
            </a:r>
            <a:br/>
            <a:r>
              <a:t>Email: admin@litcomputers.in  |  Password: admin123</a:t>
            </a:r>
            <a:br/>
            <a:br/>
            <a:r>
              <a:t>Automated Test Results:</a:t>
            </a:r>
            <a:br/>
            <a:r>
              <a:t>✓ 8 Pre-Built Gaming PCs Verified</a:t>
            </a:r>
            <a:br/>
            <a:r>
              <a:t>✓ 52 Hardware Components Across 12 Categories Loaded</a:t>
            </a:r>
            <a:br/>
            <a:r>
              <a:t>✓ Live Product Search, Filters, and Compatibility Engine Passed</a:t>
            </a:r>
            <a:br/>
            <a:r>
              <a:t>✓ Admin Add/Edit/Delete JSON Operations 100% Passed</a:t>
            </a:r>
            <a:br/>
            <a:r>
              <a:t>✓ User Auth &amp; Database Order Invoice Generation Passed</a:t>
            </a:r>
            <a:b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